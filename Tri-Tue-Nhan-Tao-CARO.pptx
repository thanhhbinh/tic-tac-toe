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erriweather" panose="00000500000000000000" pitchFamily="2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334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9A29CD-9DA8-46FD-896B-E000D72BC51F}">
  <a:tblStyle styleId="{AE9A29CD-9DA8-46FD-896B-E000D72BC5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718393"/>
            <a:ext cx="8572500" cy="542121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81250" y="1480393"/>
            <a:ext cx="7429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Times New Roman" panose="02020603050405020304" pitchFamily="18" charset="0"/>
                <a:ea typeface="Montserrat Light"/>
                <a:cs typeface="Times New Roman" panose="02020603050405020304" pitchFamily="18" charset="0"/>
                <a:sym typeface="Montserrat Light"/>
              </a:rPr>
              <a:t>MÔN TRÍ TUỆ NHÂN TẠO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95512" y="1975693"/>
            <a:ext cx="780097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XÂY DỰNG HỆ THỐNG AI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4200" b="1" i="0" u="none" strike="noStrike" cap="none">
                <a:solidFill>
                  <a:srgbClr val="D4AF37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CHƠI CỜ CARO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381250" y="3541365"/>
            <a:ext cx="7429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Sự kết hợp giữa Minimax + Alpha-Beta Pruning và Deep Q-Network (DQN)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19750" y="4653706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381250" y="5072806"/>
            <a:ext cx="7429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Nhóm thực hiện: Phan Thanh Bình &amp; Dương Công Long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22885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Lý do chọn đề tài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743200"/>
            <a:ext cx="5334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Cờ Caro (Gomoku) là bài toán AI điển hình với không gian trạng thái lớn. Dự án hướng tới việc giải quyết bài toán bằng cách kết hợp hai thế giới: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3848100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Tìm  kiếm  đối kháng: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Minimax truyền thống, mạnh về logic và tính toán phản ứng.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648200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Học  tăng  cường: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DQN hiện đại, mạnh về khả năng học các thế cờ phức tạp.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86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863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TỔNG QUAN ĐỀ TÀI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53DDB-CFB5-ED9F-7644-E855915157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7172325" y="1938839"/>
            <a:ext cx="3863340" cy="38185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6487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76487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76487"/>
            <a:ext cx="3492549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57250" y="33956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Môi trường Game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3910012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Xây dựng CaroEnv chuẩn hóa, hỗ trợ bàn cờ 10x10 và 15x15, luật 5 quân thắng.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635549" y="33956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Agent Thông minh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635549" y="3910012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Phát triển Minimax (Alpha-Beta), DQN (CNN) và Hybrid Agent tích hợp cả hai.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413849" y="33956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Giao diện Đa dạng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413849" y="3910012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Triển khai Web UI (FastAPI) và Desktop (Pygame) cho phép chơi trực tiếp với máy.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7003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27003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849" y="27003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 TIÊU NGHIÊN CỨU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335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2002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Thuật toán &amp; Cắt tỉa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714625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Giả định đối thủ chơi tối ưu: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1952625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000125" y="320992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MAX: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Chọn nước có điểm lớn nhất.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000125" y="370522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MIN: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Chọn nước có điểm nhỏ nhất.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4200525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Alpha-Beta Pruning: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Loại bỏ các nhánh không cần thiết, tối ưu tốc độ duyệt.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000125" y="5000625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Heuristic: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Pattern matching (Tứ mở, Tam mở...) để đánh giá node lá.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4802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4332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238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0387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TÌM KIẾM ĐỐI KHÁNG: MINIMAX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495425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286500" y="17430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Kiến trúc DQN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286500" y="2257425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Ước lượng Q-value (giá trị nước đi) thông qua mạng CNN sâu: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715125" y="305752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Input: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Bàn cờ 3 kênh (Quân ta, Quân địch, Ô trống).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715125" y="385762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CNN: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3 lớp Convolutional để nhận diện mẫu hình học.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715125" y="465772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Replay Buffer: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50,000 transitions để phá vỡ sự tương quan.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715125" y="545782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Target Network: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Ổn định quá trình huấn luyện Bellman.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0956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8957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46958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54959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HỌC TĂNG CƯỜNG: DEEP Q-NETWORK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571500" y="2519362"/>
            <a:ext cx="11049000" cy="2886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8"/>
          <p:cNvGraphicFramePr/>
          <p:nvPr>
            <p:extLst>
              <p:ext uri="{D42A27DB-BD31-4B8C-83A1-F6EECF244321}">
                <p14:modId xmlns:p14="http://schemas.microsoft.com/office/powerpoint/2010/main" val="3082853729"/>
              </p:ext>
            </p:extLst>
          </p:nvPr>
        </p:nvGraphicFramePr>
        <p:xfrm>
          <a:off x="571500" y="2519362"/>
          <a:ext cx="11049000" cy="2886125"/>
        </p:xfrm>
        <a:graphic>
          <a:graphicData uri="http://schemas.openxmlformats.org/drawingml/2006/table">
            <a:tbl>
              <a:tblPr firstRow="1" bandRow="1">
                <a:noFill/>
                <a:tableStyleId>{AE9A29CD-9DA8-46FD-896B-E000D72BC51F}</a:tableStyleId>
              </a:tblPr>
              <a:tblGrid>
                <a:gridCol w="221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Tầng (Layer)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Thành phần chính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Công nghệ / Vai trò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Presentation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FastAPI Web UI, Pygame Desktop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Giao tiếp người dùng, hiển thị bàn cờ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AI Layer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Minimax, DQN, Hybrid Agent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PyTorch, Factory Pattern để tạo Agent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Core Layer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CaroEnv, Logic Game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NumPy, Win Detection, Undo Stack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Data/Storage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Models (.pth), Train Logs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Montserrat"/>
                          <a:cs typeface="Times New Roman" panose="02020603050405020304" pitchFamily="18" charset="0"/>
                          <a:sym typeface="Montserrat"/>
                        </a:rPr>
                        <a:t>Lưu trữ tri thức đã học của DQN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" name="Google Shape;170;p18"/>
          <p:cNvSpPr/>
          <p:nvPr/>
        </p:nvSpPr>
        <p:spPr>
          <a:xfrm>
            <a:off x="571500" y="3705225"/>
            <a:ext cx="221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790973" y="3705225"/>
            <a:ext cx="4196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987331" y="3705225"/>
            <a:ext cx="4633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4267200"/>
            <a:ext cx="221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790973" y="4267200"/>
            <a:ext cx="4196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987331" y="4267200"/>
            <a:ext cx="4633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71500" y="4829175"/>
            <a:ext cx="221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790973" y="4829175"/>
            <a:ext cx="4196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987331" y="4829175"/>
            <a:ext cx="4633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71500" y="5391150"/>
            <a:ext cx="221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790973" y="5391150"/>
            <a:ext cx="4196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987331" y="5391150"/>
            <a:ext cx="4633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KIẾN TRÚC HỆ THỐNG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1876425"/>
            <a:ext cx="53340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Hybrid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3429000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4AF37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Minimax + DQN Evaluation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286500" y="214312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Tại sao phải lai ghép?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6286500" y="2657475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Tận dụng ưu điểm của cả hai phương pháp: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715125" y="315277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Minimax: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Làm bộ não chiến thuật (nhìn xa 2-3 nước).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715125" y="3952875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DQN: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Làm "trực giác" tại các node lá, thay thế hoặc bổ sung cho Heuristic viết tay vốn khó bao quát hết mọi tình huống.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715125" y="505777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Tactical: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Chạy luật thắng/chặn ngay lập tức trước khi search.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6" name="Google Shape;19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1908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9909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50958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CHIẾN LƯỢC LAI GHÉP (HYBRID)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2487"/>
            <a:ext cx="11049000" cy="88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83087"/>
            <a:ext cx="5381625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3983087"/>
            <a:ext cx="5381625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1741437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Tại mỗi node lá (depth = 0), điểm số được tính bằng sự kết hợp có trọng số: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808237"/>
            <a:ext cx="10477500" cy="31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57250" y="4535537"/>
            <a:ext cx="50506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55% Heuristic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857250" y="5049887"/>
            <a:ext cx="4810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Đảm bảo sự ổn định, AI không "ngu" bất chợt khi DQN chưa học đủ sâu.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524625" y="4535537"/>
            <a:ext cx="50506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45% DQN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24625" y="5049887"/>
            <a:ext cx="4810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Cung cấp "trực giác" về các thế cờ tiềm năng mà pattern matching có thể bỏ lỡ.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CƠ CHẾ ĐÁNH GIÁ NODE LÁ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0275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71500" y="24669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Quy trình Train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000125" y="2943225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Giai đoạn 1: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800 episodes đấu với Minimax (D=2) để học kiến thức cơ bản.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000125" y="3743325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Giai đoạn 2: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Resume &amp; 500 episodes đấu với Minimax (D=3) để nâng cao trình độ.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000125" y="454342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Tham số: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LR = 1e-4, Gamma = 0.99, Batch size = 64.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000125" y="503872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Reward: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+1.0 (Thắng), -1.0 (Thua), +0.35 (Tứ mở).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HUẤN LUYỆN DQN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571500" y="2519362"/>
            <a:ext cx="11049000" cy="2886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236" name="Google Shape;236;p22"/>
          <p:cNvGraphicFramePr/>
          <p:nvPr/>
        </p:nvGraphicFramePr>
        <p:xfrm>
          <a:off x="571500" y="2519362"/>
          <a:ext cx="11049000" cy="2886125"/>
        </p:xfrm>
        <a:graphic>
          <a:graphicData uri="http://schemas.openxmlformats.org/drawingml/2006/table">
            <a:tbl>
              <a:tblPr firstRow="1" bandRow="1">
                <a:noFill/>
                <a:tableStyleId>{AE9A29CD-9DA8-46FD-896B-E000D72BC51F}</a:tableStyleId>
              </a:tblPr>
              <a:tblGrid>
                <a:gridCol w="30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Tiêu chí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Minimax Pure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DQN Pure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Hybrid (Expert)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Tầm nhìn (Look-ahead)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nước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Không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 nước + Trực giác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Khả năng học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Cố định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Tiến hóa qua ván chơi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Kết hợp cả hai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Thời gian/Lượt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 3s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Rất nhanh (0.05s)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10s - 30s (Nặng CPU)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Độ khó cảm nhận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Khó (Logic)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Trung bình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Khó &amp; Biến hóa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7" name="Google Shape;237;p22"/>
          <p:cNvSpPr/>
          <p:nvPr/>
        </p:nvSpPr>
        <p:spPr>
          <a:xfrm>
            <a:off x="571500" y="3705225"/>
            <a:ext cx="3024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3595687" y="3705225"/>
            <a:ext cx="2409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6005363" y="3705225"/>
            <a:ext cx="28676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8872983" y="3705225"/>
            <a:ext cx="27475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71500" y="4267200"/>
            <a:ext cx="3024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595687" y="4267200"/>
            <a:ext cx="2409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005363" y="4267200"/>
            <a:ext cx="28676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8872983" y="4267200"/>
            <a:ext cx="27475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71500" y="4829175"/>
            <a:ext cx="3024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3595687" y="4829175"/>
            <a:ext cx="2409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6005363" y="4829175"/>
            <a:ext cx="28676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8872983" y="4829175"/>
            <a:ext cx="27475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71500" y="5391150"/>
            <a:ext cx="3024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595687" y="5391150"/>
            <a:ext cx="2409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6005363" y="5391150"/>
            <a:ext cx="28676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8872983" y="5391150"/>
            <a:ext cx="27475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SO SÁNH CÁC AGENT AI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5619750" y="978247"/>
            <a:ext cx="952500" cy="571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295275" y="1585912"/>
            <a:ext cx="116014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Kết luận &amp; Phát triển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2238375" y="3288952"/>
            <a:ext cx="814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Đã làm chủ lý thuyết Minimax và Học tăng cường DQN.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2238375" y="3784252"/>
            <a:ext cx="814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Cài đặt thành công kiến trúc Hybrid Agent - Điểm mới của đồ án.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2238375" y="4279552"/>
            <a:ext cx="814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Hoàn thiện sản phẩm đa nền tảng (Web &amp; Desktop).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2238375" y="4774852"/>
            <a:ext cx="8143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Hướng tới: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Monte Carlo Tree Search (MCTS) kết hợp Neural Network giống AlphaZero.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" name="Google Shape;26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32705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82235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31765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81295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295275" y="1653480"/>
            <a:ext cx="11601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THANK </a:t>
            </a:r>
            <a:r>
              <a:rPr lang="en-US" sz="6000" b="1" i="0" u="none" strike="noStrike" cap="none">
                <a:solidFill>
                  <a:srgbClr val="D4AF37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YOU!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571500" y="2758380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Hỏi &amp; Đáp | Đội ngũ thực hiện: Phan Thanh Bình - Dương Công Long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571500" y="4213770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Giảng viên hướng dẫn: TS. </a:t>
            </a:r>
            <a:r>
              <a:rPr lang="en-US" sz="1500">
                <a:solidFill>
                  <a:srgbClr val="003366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Bùi Mạnh Quân</a:t>
            </a:r>
            <a:endParaRPr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571500" y="4709070"/>
            <a:ext cx="11049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b="1">
                <a:solidFill>
                  <a:srgbClr val="003366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KỸ THUẬT THÀNH PHỐ HỒ CHÍ MINH </a:t>
            </a:r>
            <a:endParaRPr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831</Words>
  <Application>Microsoft Office PowerPoint</Application>
  <PresentationFormat>Widescreen</PresentationFormat>
  <Paragraphs>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Times New Roman</vt:lpstr>
      <vt:lpstr>Montserrat</vt:lpstr>
      <vt:lpstr>Calibri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Công Long</cp:lastModifiedBy>
  <cp:revision>8</cp:revision>
  <dcterms:modified xsi:type="dcterms:W3CDTF">2026-06-18T13:07:10Z</dcterms:modified>
</cp:coreProperties>
</file>